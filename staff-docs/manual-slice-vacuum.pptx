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57" r:id="rId3"/>
    <p:sldId id="259" r:id="rId4"/>
    <p:sldId id="256" r:id="rId5"/>
    <p:sldId id="260" r:id="rId10"/>
    <p:sldId id="261" r:id="rId11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1" d="100"/>
          <a:sy n="101" d="100"/>
        </p:scale>
        <p:origin x="956" y="-201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  <Relationship Id="rId10" Type="http://schemas.openxmlformats.org/officeDocument/2006/relationships/slide" Target="slides/slide5.xml"/>
  <Relationship Id="rId11" Type="http://schemas.openxmlformats.org/officeDocument/2006/relationships/slide" Target="slides/slide6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660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86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42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70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42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78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56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95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739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44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09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009E8-35E3-450A-8B96-558EDB71F4A7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52DE5-1036-4F28-A2C9-67AE74E0E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99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2D7314-3DCA-4B9B-A67C-1DF106E0E120}"/>
              </a:ext>
            </a:extLst>
          </p:cNvPr>
          <p:cNvSpPr txBox="1"/>
          <p:nvPr/>
        </p:nvSpPr>
        <p:spPr>
          <a:xfrm>
            <a:off x="-205836" y="1428905"/>
            <a:ext cx="67056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①電源プラグ確認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ja-JP" altLang="en-US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②本体右横の青いボタンを押す</a:t>
            </a:r>
          </a:p>
          <a:p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16DFF39-D3C6-4CFB-B9ED-EDCF0333533F}"/>
              </a:ext>
            </a:extLst>
          </p:cNvPr>
          <p:cNvSpPr txBox="1"/>
          <p:nvPr/>
        </p:nvSpPr>
        <p:spPr>
          <a:xfrm>
            <a:off x="-205836" y="3536606"/>
            <a:ext cx="5573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③正面のボタンパネルの運転を押す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ja-JP" altLang="en-US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④右の表示がｏｎ→　．　になるのを確認</a:t>
            </a:r>
          </a:p>
          <a:p>
            <a:endParaRPr kumimoji="1" lang="ja-JP" altLang="en-US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7A847B5-7081-4B72-914C-D7120AA350E9}"/>
              </a:ext>
            </a:extLst>
          </p:cNvPr>
          <p:cNvSpPr txBox="1"/>
          <p:nvPr/>
        </p:nvSpPr>
        <p:spPr>
          <a:xfrm>
            <a:off x="-205836" y="5319634"/>
            <a:ext cx="67056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⑤プログラムＮｏ．２，３０秒の表示を確認したら、水抜きボタンを押す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ja-JP" altLang="en-US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⑥水抜きが終了いたら使用可能</a:t>
            </a:r>
          </a:p>
          <a:p>
            <a:endParaRPr kumimoji="1" lang="ja-JP" altLang="en-US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45ACEB8-2D2F-439B-9417-FA82F1359E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58"/>
          <a:stretch/>
        </p:blipFill>
        <p:spPr>
          <a:xfrm>
            <a:off x="3186418" y="1076812"/>
            <a:ext cx="1461703" cy="148419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2DA1761-CC94-408E-8383-6FFA7F780B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4" t="23194" r="22625" b="41477"/>
          <a:stretch/>
        </p:blipFill>
        <p:spPr>
          <a:xfrm>
            <a:off x="3586510" y="3320785"/>
            <a:ext cx="1677696" cy="156866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32900E4-3FF1-4213-909A-8C5BF09A97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9" r="12055" b="16308"/>
          <a:stretch/>
        </p:blipFill>
        <p:spPr>
          <a:xfrm>
            <a:off x="5264206" y="3323794"/>
            <a:ext cx="1545948" cy="1532112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69AA7A58-76A5-4FFB-BE73-354B895DB5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35"/>
          <a:stretch/>
        </p:blipFill>
        <p:spPr>
          <a:xfrm>
            <a:off x="3708165" y="6344342"/>
            <a:ext cx="2374384" cy="2421131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61E9EB3-5265-4D39-88EC-E8DA3B848949}"/>
              </a:ext>
            </a:extLst>
          </p:cNvPr>
          <p:cNvSpPr txBox="1"/>
          <p:nvPr/>
        </p:nvSpPr>
        <p:spPr>
          <a:xfrm>
            <a:off x="149157" y="136187"/>
            <a:ext cx="4105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真空パックの機械の使用開始手順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EEE4CD8-677A-4FCB-A2D4-F48A25B4DC28}"/>
              </a:ext>
            </a:extLst>
          </p:cNvPr>
          <p:cNvCxnSpPr>
            <a:cxnSpLocks/>
          </p:cNvCxnSpPr>
          <p:nvPr/>
        </p:nvCxnSpPr>
        <p:spPr>
          <a:xfrm>
            <a:off x="4648121" y="3986819"/>
            <a:ext cx="123217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E9349E9-4BB8-47AE-AEBB-3FFC49B6FF90}"/>
              </a:ext>
            </a:extLst>
          </p:cNvPr>
          <p:cNvGrpSpPr/>
          <p:nvPr/>
        </p:nvGrpSpPr>
        <p:grpSpPr>
          <a:xfrm>
            <a:off x="775451" y="6344343"/>
            <a:ext cx="2466107" cy="2421131"/>
            <a:chOff x="791183" y="5340104"/>
            <a:chExt cx="2466107" cy="2421131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2C5B88E6-5FD0-40D8-8B8E-606B66B99C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283"/>
            <a:stretch/>
          </p:blipFill>
          <p:spPr>
            <a:xfrm>
              <a:off x="791183" y="5340104"/>
              <a:ext cx="2466107" cy="2421131"/>
            </a:xfrm>
            <a:prstGeom prst="rect">
              <a:avLst/>
            </a:prstGeom>
          </p:spPr>
        </p:pic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CD685422-A8DC-4FB1-BC3F-721A415C7611}"/>
                </a:ext>
              </a:extLst>
            </p:cNvPr>
            <p:cNvSpPr/>
            <p:nvPr/>
          </p:nvSpPr>
          <p:spPr>
            <a:xfrm>
              <a:off x="1491574" y="6686145"/>
              <a:ext cx="356681" cy="32425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6567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5EDF09F-0E61-458D-A26B-176F5C90CE17}"/>
              </a:ext>
            </a:extLst>
          </p:cNvPr>
          <p:cNvSpPr txBox="1"/>
          <p:nvPr/>
        </p:nvSpPr>
        <p:spPr>
          <a:xfrm>
            <a:off x="76199" y="28028"/>
            <a:ext cx="3756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スライス作業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5010FC-1117-4ED4-8D29-490FA7470C22}"/>
              </a:ext>
            </a:extLst>
          </p:cNvPr>
          <p:cNvSpPr txBox="1"/>
          <p:nvPr/>
        </p:nvSpPr>
        <p:spPr>
          <a:xfrm>
            <a:off x="-8192" y="428558"/>
            <a:ext cx="6705601" cy="2200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①使用する道具（電動スライサー、ノギス、小バット、大バット、解凍用のプラスチックトレー、台車）を消毒、アルコールを吹き付けたらそのままにする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endParaRPr kumimoji="1" lang="ja-JP" altLang="en-US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②スライスする肉を確認。バーコード読み取り、または在庫管理表へ記入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総量からパック数を概算で計算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③台車に大バットを載せて、半解凍の肉を袋から出す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8AEA11-0B22-4E50-BED5-4BCDF32C77C3}"/>
              </a:ext>
            </a:extLst>
          </p:cNvPr>
          <p:cNvSpPr txBox="1"/>
          <p:nvPr/>
        </p:nvSpPr>
        <p:spPr>
          <a:xfrm>
            <a:off x="-8192" y="2751606"/>
            <a:ext cx="3472071" cy="127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④ミンチとスライサーが同じ形のプラグなので、スライサーの電源プラグを確認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本体の右側のレバーを奥に押す</a:t>
            </a:r>
            <a:r>
              <a:rPr kumimoji="1" lang="en-US" altLang="ja-JP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</a:t>
            </a: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赤矢印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（スライス時に自動で動くようになる）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3BCFD0C-B0A9-4CBC-B670-2DA6228BCEC6}"/>
              </a:ext>
            </a:extLst>
          </p:cNvPr>
          <p:cNvSpPr txBox="1"/>
          <p:nvPr/>
        </p:nvSpPr>
        <p:spPr>
          <a:xfrm>
            <a:off x="0" y="4166505"/>
            <a:ext cx="5180638" cy="96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⑤厚さのダイヤルでスライスの厚さを設定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台車に半解凍の肉のバットと空のバットを載せてスライサー脇に置いておく。小バットをスライサーに置く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D0DF75-2698-4709-A913-821A2DC0CCAD}"/>
              </a:ext>
            </a:extLst>
          </p:cNvPr>
          <p:cNvSpPr txBox="1"/>
          <p:nvPr/>
        </p:nvSpPr>
        <p:spPr>
          <a:xfrm>
            <a:off x="40856" y="5325152"/>
            <a:ext cx="4410931" cy="435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⑥肉をスライサーにセット　右側の押さえと左側のレバーを肉に固定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endParaRPr kumimoji="1" lang="en-US" altLang="ja-JP" sz="8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⑦スライサー右側のボタンを引いて、スライス開始。数枚切ったら厚さをノギスで確認。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場合によっては厚さの設定を微調整して、再確認。良ければ、そのままスライスを続ける。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endParaRPr kumimoji="1" lang="ja-JP" altLang="en-US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⑧スライスされた肉は都度空のバットへ。バットがいっぱいになったら一時保管庫に入れておく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⑨これ以降、スライスする肉の厚さが複数ある場合は、わかりやすいようにバットに分けて一時保管庫へ保管。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EE16ED1-51BA-44D1-91F3-9EF10D4E1A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0" t="16835" r="8914" b="49513"/>
          <a:stretch/>
        </p:blipFill>
        <p:spPr bwMode="auto">
          <a:xfrm>
            <a:off x="3522865" y="2860804"/>
            <a:ext cx="1537333" cy="107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7C1675F-EECF-4EA1-882D-CA934E30ED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58"/>
          <a:stretch/>
        </p:blipFill>
        <p:spPr>
          <a:xfrm>
            <a:off x="5579549" y="1702935"/>
            <a:ext cx="973671" cy="1451286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5CB39E8-46BB-4C4B-A0EC-BC43119C691F}"/>
              </a:ext>
            </a:extLst>
          </p:cNvPr>
          <p:cNvGrpSpPr/>
          <p:nvPr/>
        </p:nvGrpSpPr>
        <p:grpSpPr>
          <a:xfrm>
            <a:off x="4527780" y="5419479"/>
            <a:ext cx="2169629" cy="3016244"/>
            <a:chOff x="4527780" y="5419479"/>
            <a:chExt cx="2169629" cy="3016244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9C7687A4-8836-467F-B7CD-F292F54954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39" t="19425" r="13730" b="12173"/>
            <a:stretch/>
          </p:blipFill>
          <p:spPr>
            <a:xfrm>
              <a:off x="4527780" y="5419479"/>
              <a:ext cx="2093636" cy="3016244"/>
            </a:xfrm>
            <a:prstGeom prst="rect">
              <a:avLst/>
            </a:prstGeom>
          </p:spPr>
        </p:pic>
        <p:sp>
          <p:nvSpPr>
            <p:cNvPr id="17" name="吹き出し: 角を丸めた四角形 16">
              <a:extLst>
                <a:ext uri="{FF2B5EF4-FFF2-40B4-BE49-F238E27FC236}">
                  <a16:creationId xmlns:a16="http://schemas.microsoft.com/office/drawing/2014/main" id="{BAAFD45E-B6FC-4D08-AE48-3188AE9AF24C}"/>
                </a:ext>
              </a:extLst>
            </p:cNvPr>
            <p:cNvSpPr/>
            <p:nvPr/>
          </p:nvSpPr>
          <p:spPr>
            <a:xfrm>
              <a:off x="6298795" y="7502447"/>
              <a:ext cx="398614" cy="440536"/>
            </a:xfrm>
            <a:prstGeom prst="wedgeRoundRectCallout">
              <a:avLst>
                <a:gd name="adj1" fmla="val -76127"/>
                <a:gd name="adj2" fmla="val -2884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>
                  <a:solidFill>
                    <a:schemeClr val="tx1"/>
                  </a:solidFill>
                </a:rPr>
                <a:t>⑦</a:t>
              </a:r>
            </a:p>
          </p:txBody>
        </p:sp>
        <p:sp>
          <p:nvSpPr>
            <p:cNvPr id="20" name="吹き出し: 角を丸めた四角形 19">
              <a:extLst>
                <a:ext uri="{FF2B5EF4-FFF2-40B4-BE49-F238E27FC236}">
                  <a16:creationId xmlns:a16="http://schemas.microsoft.com/office/drawing/2014/main" id="{A935F1D6-5441-43A8-8554-A14690A14F83}"/>
                </a:ext>
              </a:extLst>
            </p:cNvPr>
            <p:cNvSpPr/>
            <p:nvPr/>
          </p:nvSpPr>
          <p:spPr>
            <a:xfrm>
              <a:off x="6066385" y="5815813"/>
              <a:ext cx="378724" cy="291548"/>
            </a:xfrm>
            <a:prstGeom prst="wedgeRoundRectCallout">
              <a:avLst>
                <a:gd name="adj1" fmla="val -81376"/>
                <a:gd name="adj2" fmla="val 115298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>
                  <a:solidFill>
                    <a:schemeClr val="tx1"/>
                  </a:solidFill>
                </a:rPr>
                <a:t>⑥</a:t>
              </a: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74FF71C-6567-477E-8D61-B71AABBFA354}"/>
              </a:ext>
            </a:extLst>
          </p:cNvPr>
          <p:cNvGrpSpPr/>
          <p:nvPr/>
        </p:nvGrpSpPr>
        <p:grpSpPr>
          <a:xfrm>
            <a:off x="4396423" y="3354019"/>
            <a:ext cx="2461577" cy="1858072"/>
            <a:chOff x="4347232" y="3212718"/>
            <a:chExt cx="2461577" cy="1858072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58D1C7E5-DD4A-4080-A666-09A61E049B58}"/>
                </a:ext>
              </a:extLst>
            </p:cNvPr>
            <p:cNvGrpSpPr/>
            <p:nvPr/>
          </p:nvGrpSpPr>
          <p:grpSpPr>
            <a:xfrm>
              <a:off x="5069993" y="3212718"/>
              <a:ext cx="1738816" cy="1858072"/>
              <a:chOff x="5119184" y="3096254"/>
              <a:chExt cx="1738816" cy="1858072"/>
            </a:xfrm>
          </p:grpSpPr>
          <p:pic>
            <p:nvPicPr>
              <p:cNvPr id="2052" name="Picture 4">
                <a:extLst>
                  <a:ext uri="{FF2B5EF4-FFF2-40B4-BE49-F238E27FC236}">
                    <a16:creationId xmlns:a16="http://schemas.microsoft.com/office/drawing/2014/main" id="{F3E87988-9553-4871-A3C3-84656F173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663" t="18945" r="474" b="22202"/>
              <a:stretch/>
            </p:blipFill>
            <p:spPr bwMode="auto">
              <a:xfrm>
                <a:off x="5119184" y="3190621"/>
                <a:ext cx="1378226" cy="17637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矢印: 上カーブ 9">
                <a:extLst>
                  <a:ext uri="{FF2B5EF4-FFF2-40B4-BE49-F238E27FC236}">
                    <a16:creationId xmlns:a16="http://schemas.microsoft.com/office/drawing/2014/main" id="{F51179BD-7046-459C-8765-8B178C0BCBFB}"/>
                  </a:ext>
                </a:extLst>
              </p:cNvPr>
              <p:cNvSpPr/>
              <p:nvPr/>
            </p:nvSpPr>
            <p:spPr>
              <a:xfrm rot="17490164">
                <a:off x="5878414" y="4287939"/>
                <a:ext cx="496956" cy="150873"/>
              </a:xfrm>
              <a:prstGeom prst="curvedUpArrow">
                <a:avLst/>
              </a:prstGeom>
              <a:solidFill>
                <a:srgbClr val="FF0000"/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吹き出し: 角を丸めた四角形 10">
                <a:extLst>
                  <a:ext uri="{FF2B5EF4-FFF2-40B4-BE49-F238E27FC236}">
                    <a16:creationId xmlns:a16="http://schemas.microsoft.com/office/drawing/2014/main" id="{32E9F211-E7CD-4428-8ABE-C22E0D3F6628}"/>
                  </a:ext>
                </a:extLst>
              </p:cNvPr>
              <p:cNvSpPr/>
              <p:nvPr/>
            </p:nvSpPr>
            <p:spPr>
              <a:xfrm>
                <a:off x="5718313" y="3096254"/>
                <a:ext cx="1139687" cy="440536"/>
              </a:xfrm>
              <a:prstGeom prst="wedgeRoundRectCallout">
                <a:avLst>
                  <a:gd name="adj1" fmla="val -25484"/>
                  <a:gd name="adj2" fmla="val 83557"/>
                  <a:gd name="adj3" fmla="val 16667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</a:rPr>
                  <a:t>⑤ダイヤル</a:t>
                </a:r>
                <a:endParaRPr kumimoji="1" lang="en-US" altLang="ja-JP" sz="1400" dirty="0">
                  <a:solidFill>
                    <a:schemeClr val="tx1"/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</a:endParaRPr>
              </a:p>
            </p:txBody>
          </p:sp>
        </p:grpSp>
        <p:sp>
          <p:nvSpPr>
            <p:cNvPr id="2" name="吹き出し: 角を丸めた四角形 1">
              <a:extLst>
                <a:ext uri="{FF2B5EF4-FFF2-40B4-BE49-F238E27FC236}">
                  <a16:creationId xmlns:a16="http://schemas.microsoft.com/office/drawing/2014/main" id="{35207943-17F2-4980-8C4C-D77942399D96}"/>
                </a:ext>
              </a:extLst>
            </p:cNvPr>
            <p:cNvSpPr/>
            <p:nvPr/>
          </p:nvSpPr>
          <p:spPr>
            <a:xfrm>
              <a:off x="4347232" y="4006593"/>
              <a:ext cx="1022325" cy="295747"/>
            </a:xfrm>
            <a:prstGeom prst="wedgeRoundRectCallout">
              <a:avLst>
                <a:gd name="adj1" fmla="val 91746"/>
                <a:gd name="adj2" fmla="val 39411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400" dirty="0">
                  <a:solidFill>
                    <a:schemeClr val="tx1"/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</a:rPr>
                <a:t>④レバー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637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2C8E79-597F-4D05-852B-7491810BC83F}"/>
              </a:ext>
            </a:extLst>
          </p:cNvPr>
          <p:cNvSpPr txBox="1"/>
          <p:nvPr/>
        </p:nvSpPr>
        <p:spPr>
          <a:xfrm>
            <a:off x="95250" y="337390"/>
            <a:ext cx="6762750" cy="2815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r>
              <a:rPr kumimoji="1" lang="ja-JP" altLang="en-US" sz="1400" dirty="0">
                <a:solidFill>
                  <a:prstClr val="black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⑩すべてのスライスが終わったら先にスライサーを洗浄する</a:t>
            </a:r>
          </a:p>
          <a:p>
            <a:pPr lvl="0">
              <a:lnSpc>
                <a:spcPts val="2400"/>
              </a:lnSpc>
            </a:pPr>
            <a:r>
              <a:rPr kumimoji="1" lang="ja-JP" altLang="en-US" sz="1400" dirty="0">
                <a:solidFill>
                  <a:prstClr val="black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１．分解パーツは外して、ノギスと一緒に流しでお湯につけておく</a:t>
            </a:r>
            <a:endParaRPr kumimoji="1" lang="en-US" altLang="ja-JP" sz="1400" dirty="0">
              <a:solidFill>
                <a:prstClr val="black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lvl="0">
              <a:lnSpc>
                <a:spcPts val="2400"/>
              </a:lnSpc>
            </a:pPr>
            <a:r>
              <a:rPr kumimoji="1" lang="ja-JP" altLang="en-US" sz="1400" dirty="0">
                <a:solidFill>
                  <a:prstClr val="black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　　分解パーツは下記参照</a:t>
            </a:r>
            <a:endParaRPr kumimoji="1" lang="en-US" altLang="ja-JP" sz="1400" dirty="0">
              <a:solidFill>
                <a:prstClr val="black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lvl="0">
              <a:lnSpc>
                <a:spcPts val="2400"/>
              </a:lnSpc>
            </a:pPr>
            <a:endParaRPr kumimoji="1" lang="ja-JP" altLang="en-US" sz="1400" dirty="0">
              <a:solidFill>
                <a:prstClr val="black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lvl="0">
              <a:lnSpc>
                <a:spcPts val="2400"/>
              </a:lnSpc>
            </a:pPr>
            <a:r>
              <a:rPr kumimoji="1" lang="ja-JP" altLang="en-US" sz="1400" dirty="0">
                <a:solidFill>
                  <a:prstClr val="black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２．スライサー本体の肉片を取り除く</a:t>
            </a:r>
          </a:p>
          <a:p>
            <a:pPr lvl="0">
              <a:lnSpc>
                <a:spcPts val="2400"/>
              </a:lnSpc>
            </a:pPr>
            <a:endParaRPr kumimoji="1" lang="en-US" altLang="ja-JP" sz="1400" dirty="0">
              <a:solidFill>
                <a:prstClr val="black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lvl="0">
              <a:lnSpc>
                <a:spcPts val="2400"/>
              </a:lnSpc>
            </a:pPr>
            <a:r>
              <a:rPr kumimoji="1" lang="ja-JP" altLang="en-US" sz="1400" dirty="0">
                <a:solidFill>
                  <a:prstClr val="black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３．洗剤を含んだスポンジで各部位を洗う→で水拭き→アルコール消毒</a:t>
            </a:r>
          </a:p>
          <a:p>
            <a:pPr lvl="0">
              <a:lnSpc>
                <a:spcPts val="2400"/>
              </a:lnSpc>
            </a:pPr>
            <a:endParaRPr kumimoji="1" lang="en-US" altLang="ja-JP" sz="1400" dirty="0">
              <a:solidFill>
                <a:prstClr val="black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lvl="0">
              <a:lnSpc>
                <a:spcPts val="2400"/>
              </a:lnSpc>
            </a:pPr>
            <a:r>
              <a:rPr kumimoji="1" lang="ja-JP" altLang="en-US" sz="1400" dirty="0">
                <a:solidFill>
                  <a:prstClr val="black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４．ノギスや分解パーツを流しで洗浄→水切りｏｒ拭き上げ→アルコール消毒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2586564-12E4-4519-8E15-BF9B15F7E888}"/>
              </a:ext>
            </a:extLst>
          </p:cNvPr>
          <p:cNvGrpSpPr/>
          <p:nvPr/>
        </p:nvGrpSpPr>
        <p:grpSpPr>
          <a:xfrm>
            <a:off x="225276" y="4182003"/>
            <a:ext cx="6407448" cy="3417964"/>
            <a:chOff x="95250" y="4245065"/>
            <a:chExt cx="6407448" cy="3417964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CECF2126-FB2B-4482-AB84-61C240D8A011}"/>
                </a:ext>
              </a:extLst>
            </p:cNvPr>
            <p:cNvGrpSpPr/>
            <p:nvPr/>
          </p:nvGrpSpPr>
          <p:grpSpPr>
            <a:xfrm>
              <a:off x="95250" y="4245065"/>
              <a:ext cx="6407448" cy="3417964"/>
              <a:chOff x="146948" y="2118885"/>
              <a:chExt cx="5826027" cy="3417964"/>
            </a:xfrm>
          </p:grpSpPr>
          <p:pic>
            <p:nvPicPr>
              <p:cNvPr id="6" name="図 5">
                <a:extLst>
                  <a:ext uri="{FF2B5EF4-FFF2-40B4-BE49-F238E27FC236}">
                    <a16:creationId xmlns:a16="http://schemas.microsoft.com/office/drawing/2014/main" id="{B8EF11F6-92FD-4341-84DC-08A0F4CBC8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79" r="27048" b="23578"/>
              <a:stretch/>
            </p:blipFill>
            <p:spPr>
              <a:xfrm>
                <a:off x="3090041" y="2118885"/>
                <a:ext cx="2882934" cy="3417964"/>
              </a:xfrm>
              <a:prstGeom prst="rect">
                <a:avLst/>
              </a:prstGeom>
            </p:spPr>
          </p:pic>
          <p:sp>
            <p:nvSpPr>
              <p:cNvPr id="7" name="吹き出し: 角を丸めた四角形 6">
                <a:extLst>
                  <a:ext uri="{FF2B5EF4-FFF2-40B4-BE49-F238E27FC236}">
                    <a16:creationId xmlns:a16="http://schemas.microsoft.com/office/drawing/2014/main" id="{107BFCFF-3E1A-452E-AEB6-E5791CAC9343}"/>
                  </a:ext>
                </a:extLst>
              </p:cNvPr>
              <p:cNvSpPr/>
              <p:nvPr/>
            </p:nvSpPr>
            <p:spPr>
              <a:xfrm>
                <a:off x="146948" y="2419552"/>
                <a:ext cx="2799955" cy="2207172"/>
              </a:xfrm>
              <a:prstGeom prst="wedgeRoundRectCallout">
                <a:avLst>
                  <a:gd name="adj1" fmla="val 70158"/>
                  <a:gd name="adj2" fmla="val 1357"/>
                  <a:gd name="adj3" fmla="val 16667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ja-JP" altLang="en-US" sz="1400" dirty="0">
                    <a:solidFill>
                      <a:schemeClr val="tx1"/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</a:rPr>
                  <a:t>＊カッター部分のカバーのネジ２か所を外して、カバーも外す</a:t>
                </a:r>
                <a:endParaRPr kumimoji="1" lang="en-US" altLang="ja-JP" sz="1400" dirty="0">
                  <a:solidFill>
                    <a:schemeClr val="tx1"/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</a:endParaRPr>
              </a:p>
              <a:p>
                <a:r>
                  <a:rPr kumimoji="1" lang="ja-JP" altLang="en-US" sz="1400" dirty="0">
                    <a:solidFill>
                      <a:schemeClr val="tx1"/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</a:rPr>
                  <a:t>カバー②、赤矢印のネジもはずす</a:t>
                </a:r>
                <a:endParaRPr kumimoji="1" lang="en-US" altLang="ja-JP" sz="1400" dirty="0">
                  <a:solidFill>
                    <a:schemeClr val="tx1"/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</a:endParaRPr>
              </a:p>
              <a:p>
                <a:endParaRPr kumimoji="1" lang="ja-JP" altLang="en-US" sz="1400" dirty="0">
                  <a:solidFill>
                    <a:schemeClr val="tx1"/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</a:endParaRPr>
              </a:p>
            </p:txBody>
          </p:sp>
          <p:cxnSp>
            <p:nvCxnSpPr>
              <p:cNvPr id="19" name="直線矢印コネクタ 18">
                <a:extLst>
                  <a:ext uri="{FF2B5EF4-FFF2-40B4-BE49-F238E27FC236}">
                    <a16:creationId xmlns:a16="http://schemas.microsoft.com/office/drawing/2014/main" id="{760213F0-A610-4049-ADD9-273B67CF25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3263" y="2622455"/>
                <a:ext cx="0" cy="332792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吹き出し: 角を丸めた四角形 22">
                <a:extLst>
                  <a:ext uri="{FF2B5EF4-FFF2-40B4-BE49-F238E27FC236}">
                    <a16:creationId xmlns:a16="http://schemas.microsoft.com/office/drawing/2014/main" id="{22730BD0-164E-43BD-9B6A-8CEEB444721B}"/>
                  </a:ext>
                </a:extLst>
              </p:cNvPr>
              <p:cNvSpPr/>
              <p:nvPr/>
            </p:nvSpPr>
            <p:spPr>
              <a:xfrm>
                <a:off x="4531508" y="4492191"/>
                <a:ext cx="853806" cy="269065"/>
              </a:xfrm>
              <a:prstGeom prst="wedgeRoundRectCallout">
                <a:avLst>
                  <a:gd name="adj1" fmla="val -69113"/>
                  <a:gd name="adj2" fmla="val -152031"/>
                  <a:gd name="adj3" fmla="val 16667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dirty="0">
                    <a:solidFill>
                      <a:schemeClr val="tx1"/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</a:rPr>
                  <a:t>カバー②</a:t>
                </a:r>
              </a:p>
            </p:txBody>
          </p:sp>
          <p:sp>
            <p:nvSpPr>
              <p:cNvPr id="24" name="吹き出し: 角を丸めた四角形 23">
                <a:extLst>
                  <a:ext uri="{FF2B5EF4-FFF2-40B4-BE49-F238E27FC236}">
                    <a16:creationId xmlns:a16="http://schemas.microsoft.com/office/drawing/2014/main" id="{04583596-DD7A-4C8A-BF72-7612365DEE83}"/>
                  </a:ext>
                </a:extLst>
              </p:cNvPr>
              <p:cNvSpPr/>
              <p:nvPr/>
            </p:nvSpPr>
            <p:spPr>
              <a:xfrm>
                <a:off x="4531508" y="3523138"/>
                <a:ext cx="1227055" cy="286236"/>
              </a:xfrm>
              <a:prstGeom prst="wedgeRoundRectCallout">
                <a:avLst>
                  <a:gd name="adj1" fmla="val -76166"/>
                  <a:gd name="adj2" fmla="val -37500"/>
                  <a:gd name="adj3" fmla="val 16667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dirty="0">
                    <a:solidFill>
                      <a:schemeClr val="tx1"/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</a:rPr>
                  <a:t>カッターカバー</a:t>
                </a:r>
              </a:p>
            </p:txBody>
          </p:sp>
          <p:sp>
            <p:nvSpPr>
              <p:cNvPr id="25" name="吹き出し: 角を丸めた四角形 24">
                <a:extLst>
                  <a:ext uri="{FF2B5EF4-FFF2-40B4-BE49-F238E27FC236}">
                    <a16:creationId xmlns:a16="http://schemas.microsoft.com/office/drawing/2014/main" id="{F233151E-C5F6-4F55-9F98-547B46CFB0C1}"/>
                  </a:ext>
                </a:extLst>
              </p:cNvPr>
              <p:cNvSpPr/>
              <p:nvPr/>
            </p:nvSpPr>
            <p:spPr>
              <a:xfrm>
                <a:off x="3077230" y="2826820"/>
                <a:ext cx="1000107" cy="217162"/>
              </a:xfrm>
              <a:prstGeom prst="wedgeRoundRectCallout">
                <a:avLst>
                  <a:gd name="adj1" fmla="val -8711"/>
                  <a:gd name="adj2" fmla="val 226816"/>
                  <a:gd name="adj3" fmla="val 16667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dirty="0">
                    <a:solidFill>
                      <a:schemeClr val="tx1"/>
                    </a:solidFill>
                    <a:latin typeface="HG丸ｺﾞｼｯｸM-PRO" panose="020F0600000000000000" pitchFamily="50" charset="-128"/>
                    <a:ea typeface="HG丸ｺﾞｼｯｸM-PRO" panose="020F0600000000000000" pitchFamily="50" charset="-128"/>
                  </a:rPr>
                  <a:t>カバーネジ</a:t>
                </a:r>
              </a:p>
            </p:txBody>
          </p:sp>
        </p:grpSp>
        <p:sp>
          <p:nvSpPr>
            <p:cNvPr id="22" name="吹き出し: 角を丸めた四角形 21">
              <a:extLst>
                <a:ext uri="{FF2B5EF4-FFF2-40B4-BE49-F238E27FC236}">
                  <a16:creationId xmlns:a16="http://schemas.microsoft.com/office/drawing/2014/main" id="{D79B868E-CF04-4452-A7AF-B4B06D6D2133}"/>
                </a:ext>
              </a:extLst>
            </p:cNvPr>
            <p:cNvSpPr/>
            <p:nvPr/>
          </p:nvSpPr>
          <p:spPr>
            <a:xfrm>
              <a:off x="3317966" y="6401209"/>
              <a:ext cx="1000108" cy="217162"/>
            </a:xfrm>
            <a:prstGeom prst="wedgeRoundRectCallout">
              <a:avLst>
                <a:gd name="adj1" fmla="val -12979"/>
                <a:gd name="adj2" fmla="val -182500"/>
                <a:gd name="adj3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dirty="0">
                  <a:solidFill>
                    <a:schemeClr val="tx1"/>
                  </a:solidFill>
                  <a:latin typeface="HG丸ｺﾞｼｯｸM-PRO" panose="020F0600000000000000" pitchFamily="50" charset="-128"/>
                  <a:ea typeface="HG丸ｺﾞｼｯｸM-PRO" panose="020F0600000000000000" pitchFamily="50" charset="-128"/>
                </a:rPr>
                <a:t>カバーネジ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505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54F0F9-F7D3-4AB6-ACBB-E1CCA7AEF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3" t="8135" r="20900"/>
          <a:stretch/>
        </p:blipFill>
        <p:spPr bwMode="auto">
          <a:xfrm>
            <a:off x="5356501" y="6430566"/>
            <a:ext cx="1460501" cy="294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EEC6538-C310-40F9-B041-995D91A22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 t="3863" r="21870" b="688"/>
          <a:stretch/>
        </p:blipFill>
        <p:spPr bwMode="auto">
          <a:xfrm>
            <a:off x="3775489" y="6430566"/>
            <a:ext cx="1460501" cy="292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DE9CAE-C026-4CF0-A14F-3FA5B56A4322}"/>
              </a:ext>
            </a:extLst>
          </p:cNvPr>
          <p:cNvSpPr txBox="1"/>
          <p:nvPr/>
        </p:nvSpPr>
        <p:spPr>
          <a:xfrm>
            <a:off x="-12507" y="6069227"/>
            <a:ext cx="3835520" cy="3739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⑤真空パック終了後、ドリップが出てしまうので、すぐに冷凍庫へ入れる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⑥袋の余剰分を後ろに折って、食品表示シールで留める。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全面は中央にロゴシールを貼る。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上部の余剰は販売店で陳列時に値札シールが貼られるのでそのままで良い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4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⑦出来上がりの数を確認し、在庫保管記録に記載しつつ、各保管冷凍庫へ、ぴったり重ならない様、少しずらしながら重ねて入れる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508F0DA-167B-43F0-A877-5ADC40156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04" b="23110"/>
          <a:stretch/>
        </p:blipFill>
        <p:spPr bwMode="auto">
          <a:xfrm>
            <a:off x="4690857" y="334606"/>
            <a:ext cx="1885950" cy="1318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D1C1C7-2409-4C3F-926C-FCEBC2492C1A}"/>
              </a:ext>
            </a:extLst>
          </p:cNvPr>
          <p:cNvSpPr txBox="1"/>
          <p:nvPr/>
        </p:nvSpPr>
        <p:spPr>
          <a:xfrm>
            <a:off x="58771" y="18918"/>
            <a:ext cx="3756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小売りスライスのパック詰め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AB4E214-ED2D-4679-B07D-DC7F57B0D124}"/>
              </a:ext>
            </a:extLst>
          </p:cNvPr>
          <p:cNvSpPr txBox="1"/>
          <p:nvPr/>
        </p:nvSpPr>
        <p:spPr>
          <a:xfrm>
            <a:off x="-6351" y="482674"/>
            <a:ext cx="4512091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①肉用のスチロールトレイに吸水シートを一枚のせる</a:t>
            </a:r>
            <a:r>
              <a:rPr kumimoji="1" lang="en-US" altLang="ja-JP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</a:t>
            </a: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（紙側を上に。肉面に接地するようにする）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AC251EE-FECF-49FF-9DBF-3F27B40F9A35}"/>
              </a:ext>
            </a:extLst>
          </p:cNvPr>
          <p:cNvSpPr txBox="1"/>
          <p:nvPr/>
        </p:nvSpPr>
        <p:spPr>
          <a:xfrm>
            <a:off x="-20724" y="1170667"/>
            <a:ext cx="4512091" cy="4902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②見栄えのある形を優先にきれいに並べる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1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吸水シートが隠れるように敷き詰めつつ、一番上の肉はトレイの縦方向に対して横向きに並べる</a:t>
            </a:r>
          </a:p>
          <a:p>
            <a:pPr>
              <a:lnSpc>
                <a:spcPts val="2100"/>
              </a:lnSpc>
            </a:pP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1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＊その時の肉の顔に寄るが、脂身と赤身の割合に注意あまりにも形が崩れている場合は、最後の数ｇの調整以外は使わない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100"/>
              </a:lnSpc>
            </a:pP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1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③バレンを肉の上にのせる。シーラー用大パックの袋にシーラー側が天に、左右どちらかに寄せて入れる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100"/>
              </a:lnSpc>
            </a:pP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1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＊袋の端に寄せすぎると、真空処理時にトレイが破損してしまうので、赤線部分を１～２㎝程余裕を持たせるように入れる　</a:t>
            </a:r>
          </a:p>
          <a:p>
            <a:pPr>
              <a:lnSpc>
                <a:spcPts val="2100"/>
              </a:lnSpc>
            </a:pP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1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④真空パック処理　緑破線がシーラー部分</a:t>
            </a:r>
            <a:endParaRPr kumimoji="1" lang="en-US" altLang="ja-JP" sz="1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>
              <a:lnSpc>
                <a:spcPts val="2100"/>
              </a:lnSpc>
            </a:pPr>
            <a:r>
              <a:rPr kumimoji="1" lang="ja-JP" altLang="en-US" sz="14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シーラー部分と突き出ている棒の間くらいに袋の端を合わせる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1D69FB2-6EEC-44C7-AD13-A45D5186B491}"/>
              </a:ext>
            </a:extLst>
          </p:cNvPr>
          <p:cNvGrpSpPr/>
          <p:nvPr/>
        </p:nvGrpSpPr>
        <p:grpSpPr>
          <a:xfrm>
            <a:off x="4505740" y="1971675"/>
            <a:ext cx="2228850" cy="2981325"/>
            <a:chOff x="4562475" y="2028797"/>
            <a:chExt cx="2228850" cy="2981325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2C0D8BCF-E70B-499E-B3FB-59B2039C0D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2475" y="2028797"/>
              <a:ext cx="2228850" cy="2981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F9841339-EC4A-4693-B55D-7A9776DCD6EA}"/>
                </a:ext>
              </a:extLst>
            </p:cNvPr>
            <p:cNvCxnSpPr/>
            <p:nvPr/>
          </p:nvCxnSpPr>
          <p:spPr>
            <a:xfrm flipH="1">
              <a:off x="5017052" y="2233671"/>
              <a:ext cx="1126435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A2CF59DE-E6F0-491D-9983-FAC7B1214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592" y="2297208"/>
              <a:ext cx="269460" cy="196645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6FE53853-D99B-45D2-9B72-5E0981C8A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6202" y="4457701"/>
              <a:ext cx="2118137" cy="0"/>
            </a:xfrm>
            <a:prstGeom prst="line">
              <a:avLst/>
            </a:prstGeom>
            <a:ln w="76200" cap="flat" cmpd="sng" algn="ctr">
              <a:solidFill>
                <a:schemeClr val="accent6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906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2000" y="360000"/>
            <a:ext cx="5994000" cy="50399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spcAft>
                <a:spcPts val="0"/>
              </a:spcAft>
              <a:buNone/>
            </a:pPr>
            <a:r>
              <a:rPr lang="ja-JP" sz="2000" b="1" dirty="0">
                <a:solidFill>
                  <a:srgbClr val="1F3B1F"/>
                </a:solidFill>
                <a:latin typeface="Meiryo"/>
                <a:ea typeface="Meiryo"/>
              </a:rPr>
              <a:t>追補①　安全と衛生（スライス・真空パック作業）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2000" y="972000"/>
            <a:ext cx="5994000" cy="828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7A1F1F"/>
                </a:solidFill>
                <a:latin typeface="Meiryo"/>
                <a:ea typeface="Meiryo"/>
              </a:rPr>
              <a:t>■ 安全（スライサーは施設内でいちばん危険な機械です）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・刃の近くに素手を近づけない。肉は必ず押さえ具（右側の押さえと左側のレバー）で固定して切る。最後の端材は無理に切らず、ミンチ用に回す。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・洗浄・分解・刃カバーの脱着は、必ず電源プラグをコンセントから抜いてから行う（ボタンOFFだけでは不十分。誤作動の事故は電源が入ったままの洗浄で起きます）。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・刃・分解パーツを洗うときは耐切創手袋を着ける。流しにつけ置きした刃物があることを、周りの人にも声かけして知らせる。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・床に落ちた水・ドリップ・脂はその都度拭く（転倒防止）。台車で肉を運ぶときは通路の水にも注意。</a:t>
            </a:r>
          </a:p>
          <a:p>
            <a:pPr>
              <a:spcAft>
                <a:spcPts val="100"/>
              </a:spcAft>
              <a:buNone/>
            </a:pPr>
            <a:r>
              <a:rPr lang="ja-JP" sz="600" b="0" dirty="0">
                <a:solidFill>
                  <a:srgbClr val="333333"/>
                </a:solidFill>
                <a:latin typeface="Meiryo"/>
                <a:ea typeface="Meiryo"/>
              </a:rPr>
              <a:t> </a:t>
            </a:r>
          </a:p>
          <a:p>
            <a:pPr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7A1F1F"/>
                </a:solidFill>
                <a:latin typeface="Meiryo"/>
                <a:ea typeface="Meiryo"/>
              </a:rPr>
              <a:t>■ 衛生（HACCPの決まりごとと同じです）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・作業前に手洗い・手指消毒。体調が悪いときは作業に入る前に責任者へ（出退勤打刻の体調申告と同じ基準）。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・肉は半解凍のまま長く室温に置かない。作業が中断するときは必ず冷蔵庫・一時保管庫へ戻す。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・バット・トレー・吸水シートは床に直置きしない。落とした肉は商品にしない。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・使い終わったスライサー・真空パック機の洗浄は、退勤時の「今日の報告」の清掃チェックにそのまま反映する（やっていない項目だけ外す方式）。</a:t>
            </a:r>
          </a:p>
          <a:p>
            <a:pPr>
              <a:spcAft>
                <a:spcPts val="100"/>
              </a:spcAft>
              <a:buNone/>
            </a:pPr>
            <a:r>
              <a:rPr lang="ja-JP" sz="600" b="0" dirty="0">
                <a:solidFill>
                  <a:srgbClr val="333333"/>
                </a:solidFill>
                <a:latin typeface="Meiryo"/>
                <a:ea typeface="Meiryo"/>
              </a:rPr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2000" y="360000"/>
            <a:ext cx="5994000" cy="50399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spcAft>
                <a:spcPts val="0"/>
              </a:spcAft>
              <a:buNone/>
            </a:pPr>
            <a:r>
              <a:rPr lang="ja-JP" sz="2000" b="1" dirty="0">
                <a:solidFill>
                  <a:srgbClr val="1F3B1F"/>
                </a:solidFill>
                <a:latin typeface="Meiryo"/>
                <a:ea typeface="Meiryo"/>
              </a:rPr>
              <a:t>追補②　記録とシステム連携・困ったとき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2000" y="972000"/>
            <a:ext cx="5994000" cy="828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7A1F1F"/>
                </a:solidFill>
                <a:latin typeface="Meiryo"/>
                <a:ea typeface="Meiryo"/>
              </a:rPr>
              <a:t>■ どの個体の肉かの線を切らない（いちばん大事）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・スライスする肉を冷凍庫から出したら、必ずラベルのバーコードを業務アプリで読む（加工処理画面 → 原料としてスキャン）。手書きの在庫管理表だけで済ませない。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・出来上がったパック数・重量は、その日のうちに業務アプリへ登録する。ここが抜けると「どの個体の肉か」が追えなくなり、ラベルのQR（この肉の物語）も表示できません。</a:t>
            </a:r>
          </a:p>
          <a:p>
            <a:pPr>
              <a:spcAft>
                <a:spcPts val="100"/>
              </a:spcAft>
              <a:buNone/>
            </a:pPr>
            <a:r>
              <a:rPr lang="ja-JP" sz="600" b="0" dirty="0">
                <a:solidFill>
                  <a:srgbClr val="333333"/>
                </a:solidFill>
                <a:latin typeface="Meiryo"/>
                <a:ea typeface="Meiryo"/>
              </a:rPr>
              <a:t> </a:t>
            </a:r>
          </a:p>
          <a:p>
            <a:pPr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7A1F1F"/>
                </a:solidFill>
                <a:latin typeface="Meiryo"/>
                <a:ea typeface="Meiryo"/>
              </a:rPr>
              <a:t>■ 食品表示シールを貼る前に確認すること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・品名・消費期限（製造日から1年）・保存方法（-18℃以下）・製造者の印字がそのパックの中身と合っているか、貼る前に1枚ずつ確認する。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・ラベルのバーコードがにじみ・かすれで読めない場合は、そのまま出さずに刷り直す。</a:t>
            </a:r>
          </a:p>
          <a:p>
            <a:pPr>
              <a:spcAft>
                <a:spcPts val="100"/>
              </a:spcAft>
              <a:buNone/>
            </a:pPr>
            <a:r>
              <a:rPr lang="ja-JP" sz="600" b="0" dirty="0">
                <a:solidFill>
                  <a:srgbClr val="333333"/>
                </a:solidFill>
                <a:latin typeface="Meiryo"/>
                <a:ea typeface="Meiryo"/>
              </a:rPr>
              <a:t> </a:t>
            </a:r>
          </a:p>
          <a:p>
            <a:pPr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7A1F1F"/>
                </a:solidFill>
                <a:latin typeface="Meiryo"/>
                <a:ea typeface="Meiryo"/>
              </a:rPr>
              <a:t>■ 機械の調子がおかしいとき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・異音・刃こぼれ・真空の甘さ（袋がふくらむ）・エラー表示が出たら、使用を中止してその場で沖へ連絡（070-1410-8808）。無理に使い続けない。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・「直して使えた」場合も、何が起きたかを掲示板に残す（次の人が同じことで困らないように）。</a:t>
            </a:r>
          </a:p>
          <a:p>
            <a:pPr>
              <a:spcAft>
                <a:spcPts val="100"/>
              </a:spcAft>
              <a:buNone/>
            </a:pPr>
            <a:r>
              <a:rPr lang="ja-JP" sz="600" b="0" dirty="0">
                <a:solidFill>
                  <a:srgbClr val="333333"/>
                </a:solidFill>
                <a:latin typeface="Meiryo"/>
                <a:ea typeface="Meiryo"/>
              </a:rPr>
              <a:t> </a:t>
            </a:r>
          </a:p>
          <a:p>
            <a:pPr>
              <a:spcAft>
                <a:spcPts val="300"/>
              </a:spcAft>
              <a:buNone/>
            </a:pPr>
            <a:r>
              <a:rPr lang="ja-JP" sz="1400" b="1" dirty="0">
                <a:solidFill>
                  <a:srgbClr val="7A1F1F"/>
                </a:solidFill>
                <a:latin typeface="Meiryo"/>
                <a:ea typeface="Meiryo"/>
              </a:rPr>
              <a:t>■ まだ書かれていないこと（わかる人が追記してください）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・真空パック機の【終了手順】（開始手順は1ページ目にあり）とエラー表示ごとの対処。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・スライス厚さの標準値（商品別）。現状は「ノギスで確認」とだけあるので、商品ごとの目標厚さを表にしたい。</a:t>
            </a:r>
          </a:p>
          <a:p>
            <a:pPr>
              <a:spcAft>
                <a:spcPts val="500"/>
              </a:spcAft>
              <a:buNone/>
            </a:pPr>
            <a:r>
              <a:rPr lang="ja-JP" sz="1200" b="0" dirty="0">
                <a:solidFill>
                  <a:srgbClr val="333333"/>
                </a:solidFill>
                <a:latin typeface="Meiryo"/>
                <a:ea typeface="Meiryo"/>
              </a:rPr>
              <a:t>・このマニュアルの原本（PowerPoint）は業務アプリのマニュアル→ダウンロードにあります。直したら日付と名前を入れて差し替えてください。（2026-08-31 追補ページ追加）</a:t>
            </a:r>
          </a:p>
          <a:p>
            <a:pPr>
              <a:spcAft>
                <a:spcPts val="100"/>
              </a:spcAft>
              <a:buNone/>
            </a:pPr>
            <a:r>
              <a:rPr lang="ja-JP" sz="600" b="0" dirty="0">
                <a:solidFill>
                  <a:srgbClr val="333333"/>
                </a:solidFill>
                <a:latin typeface="Meiryo"/>
                <a:ea typeface="Meiryo"/>
              </a:rPr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701</Words>
  <Application>Microsoft Office PowerPoint</Application>
  <PresentationFormat>A4 210 x 297 mm</PresentationFormat>
  <Paragraphs>70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2" baseType="lpstr">
      <vt:lpstr>HGP創英角ﾎﾟｯﾌﾟ体</vt:lpstr>
      <vt:lpstr>HG丸ｺﾞｼｯｸM-PRO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</dc:creator>
  <cp:lastModifiedBy>user</cp:lastModifiedBy>
  <cp:revision>21</cp:revision>
  <cp:lastPrinted>2026-08-28T05:10:31Z</cp:lastPrinted>
  <dcterms:created xsi:type="dcterms:W3CDTF">2026-08-26T04:23:23Z</dcterms:created>
  <dcterms:modified xsi:type="dcterms:W3CDTF">2026-08-28T05:10:33Z</dcterms:modified>
</cp:coreProperties>
</file>